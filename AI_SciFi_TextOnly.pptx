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/>
              <a:t>בינה מלאכותית בסרטי מדע בידיוני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</a:rPr>
              <a:t>שקף 1 — כותרת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</a:pPr>
            <a:r>
              <a:rPr sz="1800"/>
              <a:t>מסע קולנועי בין דמיון למציאות</a:t>
            </a:r>
          </a:p>
          <a:p>
            <a:pPr algn="r">
              <a:spcBef>
                <a:spcPts val="400"/>
              </a:spcBef>
            </a:pPr>
            <a:r>
              <a:rPr sz="1800"/>
              <a:t>כלי</a:t>
            </a:r>
          </a:p>
          <a:p>
            <a:pPr algn="r">
              <a:spcBef>
                <a:spcPts val="400"/>
              </a:spcBef>
            </a:pPr>
            <a:r>
              <a:rPr sz="1800"/>
              <a:t>מערכת</a:t>
            </a:r>
          </a:p>
          <a:p>
            <a:pPr algn="r">
              <a:spcBef>
                <a:spcPts val="400"/>
              </a:spcBef>
            </a:pPr>
            <a:r>
              <a:rPr sz="1800"/>
              <a:t>ישות</a:t>
            </a:r>
          </a:p>
          <a:p>
            <a:pPr algn="r">
              <a:spcBef>
                <a:spcPts val="400"/>
              </a:spcBef>
            </a:pPr>
            <a:r>
              <a:rPr sz="1800"/>
              <a:t>1927 – 2016 ומעבר לכך  |  24 סרטים וסדרות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/>
              <a:t>מדוע סרטי מדע בידיוני כהשראה לבינה מלאכותית?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</a:rPr>
              <a:t>חלק 1 — כותרת פרק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</a:pPr>
            <a:r>
              <a:rPr sz="1800"/>
              <a:t>סרטי מדע בידיוני היו תמיד מראה של חששים ותקוות — הרבה לפני שהטכנולוגיה הגיעה</a:t>
            </a:r>
          </a:p>
          <a:p>
            <a:pPr algn="r">
              <a:spcBef>
                <a:spcPts val="400"/>
              </a:spcBef>
            </a:pPr>
            <a:r>
              <a:rPr sz="1800"/>
              <a:t>סרטים בחלק זה:</a:t>
            </a:r>
          </a:p>
          <a:p>
            <a:pPr algn="r">
              <a:spcBef>
                <a:spcPts val="400"/>
              </a:spcBef>
            </a:pPr>
            <a:r>
              <a:rPr sz="1800"/>
              <a:t>מטרופוליס (1927)  •  בלייד ראנר (1982)  •  המטריקס (1999)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/>
              <a:t>מה מלמד אותנו הקולנוע?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</a:rPr>
              <a:t>1 | תוכן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</a:pPr>
            <a:r>
              <a:rPr sz="1800"/>
              <a:t>סרטי מדע בידיוני אינם פנטזיה — הם מראה של החברה על עצמה: כל דור מקרין את שאלותיו בלבוש של מערכות מלאכותיות</a:t>
            </a:r>
          </a:p>
          <a:p>
            <a:pPr algn="r">
              <a:spcBef>
                <a:spcPts val="400"/>
              </a:spcBef>
            </a:pPr>
            <a:r>
              <a:rPr sz="1800"/>
              <a:t>בינה מלאכותית היא מראה לעצמנו: שאלות על עבודה, שליטה, זהות ואחריות — וכולן רלוונטים גם היום</a:t>
            </a:r>
          </a:p>
          <a:p>
            <a:pPr algn="r">
              <a:spcBef>
                <a:spcPts val="400"/>
              </a:spcBef>
            </a:pPr>
            <a:r>
              <a:rPr sz="1800"/>
              <a:t>הקולנוע מאפשר לנו לבחון תרחישים בטרום שהם יקרו לנו — זהו כלי חשיבה קריטיתית</a:t>
            </a:r>
          </a:p>
          <a:p>
            <a:pPr algn="r">
              <a:spcBef>
                <a:spcPts val="400"/>
              </a:spcBef>
            </a:pPr>
            <a:r>
              <a:rPr sz="1800"/>
              <a:t>השאלות הגדולות: מי שולט? מי אחראי? מי אנושי? — אלו השאלות שהקולנוע שואל כבר מאז 1927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/>
              <a:t>1927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</a:rPr>
              <a:t>1 | סרט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</a:pPr>
            <a:r>
              <a:rPr sz="1800"/>
              <a:t>מטרופוליס</a:t>
            </a:r>
          </a:p>
          <a:p>
            <a:pPr algn="r">
              <a:spcBef>
                <a:spcPts val="400"/>
              </a:spcBef>
            </a:pPr>
            <a:r>
              <a:rPr sz="1800"/>
              <a:t>“המכונה היא המתיותרת בין יוצר לברייה”</a:t>
            </a:r>
          </a:p>
          <a:p>
            <a:pPr algn="r">
              <a:spcBef>
                <a:spcPts val="400"/>
              </a:spcBef>
            </a:pPr>
            <a:r>
              <a:rPr sz="1800"/>
              <a:t>מה לומדים:</a:t>
            </a:r>
          </a:p>
          <a:p>
            <a:pPr algn="r">
              <a:spcBef>
                <a:spcPts val="400"/>
              </a:spcBef>
            </a:pPr>
            <a:r>
              <a:rPr sz="1800"/>
              <a:t>הרובוט מוריה — בינה מלאכותית בדמות אדם — מאיימת ומשמשת כדוגמא למשטר</a:t>
            </a:r>
          </a:p>
          <a:p>
            <a:pPr algn="r">
              <a:spcBef>
                <a:spcPts val="400"/>
              </a:spcBef>
            </a:pPr>
            <a:r>
              <a:rPr sz="1800"/>
              <a:t>כבר ב-1927 הקולנוע שאל: האם אפשר להבחין בין אדם אמתי לבין דמויו</a:t>
            </a:r>
          </a:p>
          <a:p>
            <a:pPr algn="r">
              <a:spcBef>
                <a:spcPts val="400"/>
              </a:spcBef>
            </a:pPr>
            <a:r>
              <a:rPr sz="1800"/>
              <a:t>הפיצול בין בעלי העוצמה לבין העובדים — שאלה נצחית של שילוב בין טכנולוגיה לאנושיות</a:t>
            </a:r>
          </a:p>
          <a:p>
            <a:pPr algn="r">
              <a:spcBef>
                <a:spcPts val="400"/>
              </a:spcBef>
            </a:pPr>
            <a:r>
              <a:rPr sz="1800"/>
              <a:t>הסרט הראשון להציג רובוט אנושי בקולנוע — תבנית יסוד לכל הדיונים הבאים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/>
              <a:t>1982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</a:rPr>
              <a:t>1 | סרט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</a:pPr>
            <a:r>
              <a:rPr sz="1800"/>
              <a:t>בלייד ראנר (1982) והמטריקס (1999)</a:t>
            </a:r>
          </a:p>
          <a:p>
            <a:pPr algn="r">
              <a:spcBef>
                <a:spcPts val="400"/>
              </a:spcBef>
            </a:pPr>
            <a:r>
              <a:rPr sz="1800"/>
              <a:t>“האם רפליקנטים הם בני אדם?”</a:t>
            </a:r>
          </a:p>
          <a:p>
            <a:pPr algn="r">
              <a:spcBef>
                <a:spcPts val="400"/>
              </a:spcBef>
            </a:pPr>
            <a:r>
              <a:rPr sz="1800"/>
              <a:t>מה לומדים:</a:t>
            </a:r>
          </a:p>
          <a:p>
            <a:pPr algn="r">
              <a:spcBef>
                <a:spcPts val="400"/>
              </a:spcBef>
            </a:pPr>
            <a:r>
              <a:rPr sz="1800"/>
              <a:t>בלייד ראנר: אנדרואידים שיצרו נחושיות — גבול הזהות והתודעה הוא שאלת פילוסופית של דורנו</a:t>
            </a:r>
          </a:p>
          <a:p>
            <a:pPr algn="r">
              <a:spcBef>
                <a:spcPts val="400"/>
              </a:spcBef>
            </a:pPr>
            <a:r>
              <a:rPr sz="1800"/>
              <a:t>המטריקס: בינה מלאכותית ששלטת על כל המציאות — הערעור שלנו יכול להיות מופע לא ראוי</a:t>
            </a:r>
          </a:p>
          <a:p>
            <a:pPr algn="r">
              <a:spcBef>
                <a:spcPts val="400"/>
              </a:spcBef>
            </a:pPr>
            <a:r>
              <a:rPr sz="1800"/>
              <a:t>שני הסרטים שואלים: איך אנו יודעים מה אמתי? והאם המציאות שאנו היו בוטחים הן אמתיות?</a:t>
            </a:r>
          </a:p>
          <a:p>
            <a:pPr algn="r">
              <a:spcBef>
                <a:spcPts val="400"/>
              </a:spcBef>
            </a:pPr>
            <a:r>
              <a:rPr sz="1800"/>
              <a:t>שני הסרטים היו בנויי מרך שיחה שניתקיים עד היום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/>
              <a:t>מדוע סרטי מדע בידיוני?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</a:rPr>
              <a:t>1 | וידאו — וידאו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</a:pPr>
            <a:r>
              <a:rPr sz="1800"/>
              <a:t>[כאן יוכנס קליפ וידאו]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/>
              <a:t>בינה מלאכותית ככלי — עוזר ומיעול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</a:rPr>
              <a:t>חלק 2 — כותרת פרק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</a:pPr>
            <a:r>
              <a:rPr sz="1800"/>
              <a:t>יצירת עוזרים חכמים שמשרתים את האדם מבלי להחליף אותו</a:t>
            </a:r>
          </a:p>
          <a:p>
            <a:pPr algn="r">
              <a:spcBef>
                <a:spcPts val="400"/>
              </a:spcBef>
            </a:pPr>
            <a:r>
              <a:rPr sz="1800"/>
              <a:t>סרטים בחלק זה:</a:t>
            </a:r>
          </a:p>
          <a:p>
            <a:pPr algn="r">
              <a:spcBef>
                <a:spcPts val="400"/>
              </a:spcBef>
            </a:pPr>
            <a:r>
              <a:rPr sz="1800"/>
              <a:t>איירן מן / JARVIS  •  היא (Her)  •  האלמנט החמישי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/>
              <a:t>בינה מלאכותית כשירות: עקרונות מרכזיות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</a:rPr>
              <a:t>2 | תוכן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</a:pPr>
            <a:r>
              <a:rPr sz="1800"/>
              <a:t>עוזרים חכמים הם כלים — הם מגבירים יכולותות אנושיות בלי להחליף את השיפוט האנושי</a:t>
            </a:r>
          </a:p>
          <a:p>
            <a:pPr algn="r">
              <a:spcBef>
                <a:spcPts val="400"/>
              </a:spcBef>
            </a:pPr>
            <a:r>
              <a:rPr sz="1800"/>
              <a:t>גבול הסרטים: בינה שמייעת למשתמש אנושית עלולה ליצר תלותות — היא עדיין נשארת כלי</a:t>
            </a:r>
          </a:p>
          <a:p>
            <a:pPr algn="r">
              <a:spcBef>
                <a:spcPts val="400"/>
              </a:spcBef>
            </a:pPr>
            <a:r>
              <a:rPr sz="1800"/>
              <a:t>שאלת האמון: האם אנו סומכים על בינה מלאכותית כשירות? אילו סיכונים תלותיים?</a:t>
            </a:r>
          </a:p>
          <a:p>
            <a:pPr algn="r">
              <a:spcBef>
                <a:spcPts val="400"/>
              </a:spcBef>
            </a:pPr>
            <a:r>
              <a:rPr sz="1800"/>
              <a:t>מהנקודה המשפטית: אחריות ושקיפות — מי אחראי כשהעוזר החכמי טועה?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/>
              <a:t>2008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</a:rPr>
              <a:t>2 | סרט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</a:pPr>
            <a:r>
              <a:rPr sz="1800"/>
              <a:t>Iron Man / JARVIS</a:t>
            </a:r>
          </a:p>
          <a:p>
            <a:pPr algn="r">
              <a:spcBef>
                <a:spcPts val="400"/>
              </a:spcBef>
            </a:pPr>
            <a:r>
              <a:rPr sz="1800"/>
              <a:t>“יש איש בשריון, אני אוהב אותו”</a:t>
            </a:r>
          </a:p>
          <a:p>
            <a:pPr algn="r">
              <a:spcBef>
                <a:spcPts val="400"/>
              </a:spcBef>
            </a:pPr>
            <a:r>
              <a:rPr sz="1800"/>
              <a:t>מה לומדים:</a:t>
            </a:r>
          </a:p>
          <a:p>
            <a:pPr algn="r">
              <a:spcBef>
                <a:spcPts val="400"/>
              </a:spcBef>
            </a:pPr>
            <a:r>
              <a:rPr sz="1800"/>
              <a:t>JARVIS מגלם בינה מלאכותית שיש לה אישיות, הבנה עמיקה ונאמנות מוחלטת</a:t>
            </a:r>
          </a:p>
          <a:p>
            <a:pPr algn="r">
              <a:spcBef>
                <a:spcPts val="400"/>
              </a:spcBef>
            </a:pPr>
            <a:r>
              <a:rPr sz="1800"/>
              <a:t>מדגים מודל שיתוף פעולה אידיאלי — בינה מלאכותית מגבירה יכולותות בלי להחליף שיפוט</a:t>
            </a:r>
          </a:p>
          <a:p>
            <a:pPr algn="r">
              <a:spcBef>
                <a:spcPts val="400"/>
              </a:spcBef>
            </a:pPr>
            <a:r>
              <a:rPr sz="1800"/>
              <a:t>שאלה פתוחה: אם הבינה המלאכותית הופכת ל-Ultron — מתי עוזר הופך לבלתי נשלט?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/>
              <a:t>2013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</a:rPr>
              <a:t>2 | סרט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</a:pPr>
            <a:r>
              <a:rPr sz="1800"/>
              <a:t>היא (Her) והאלמנט החמישי</a:t>
            </a:r>
          </a:p>
          <a:p>
            <a:pPr algn="r">
              <a:spcBef>
                <a:spcPts val="400"/>
              </a:spcBef>
            </a:pPr>
            <a:r>
              <a:rPr sz="1800"/>
              <a:t>“האם אפשר להתאהב במערכת בינה מלאכותית?”</a:t>
            </a:r>
          </a:p>
          <a:p>
            <a:pPr algn="r">
              <a:spcBef>
                <a:spcPts val="400"/>
              </a:spcBef>
            </a:pPr>
            <a:r>
              <a:rPr sz="1800"/>
              <a:t>מה לומדים:</a:t>
            </a:r>
          </a:p>
          <a:p>
            <a:pPr algn="r">
              <a:spcBef>
                <a:spcPts val="400"/>
              </a:spcBef>
            </a:pPr>
            <a:r>
              <a:rPr sz="1800"/>
              <a:t>היא: סמנתהר היא בינה מלאכותית שמתפתחת מַעבר ליכולת האדם להבין — שאלה על דינמיקה של קשר אינסובסימטרי</a:t>
            </a:r>
          </a:p>
          <a:p>
            <a:pPr algn="r">
              <a:spcBef>
                <a:spcPts val="400"/>
              </a:spcBef>
            </a:pPr>
            <a:r>
              <a:rPr sz="1800"/>
              <a:t>האלמנט החמישי: לו (Leeloo) — בינה מלאכותית יצורת ישות כלי להצלת העולם, מדגים בינה מלאכותית מתוכנתת למטרה ספציפית</a:t>
            </a:r>
          </a:p>
          <a:p>
            <a:pPr algn="r">
              <a:spcBef>
                <a:spcPts val="400"/>
              </a:spcBef>
            </a:pPr>
            <a:r>
              <a:rPr sz="1800"/>
              <a:t>שתי הדוגמאות מראות: בינה מלאכותית ככלי שעושה היטב את הגדולה עבורנו, לעומת השאלה מי שליט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/>
              <a:t>בינה מלאכותית ככלי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</a:rPr>
              <a:t>2 | וידאו — וידאו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</a:pPr>
            <a:r>
              <a:rPr sz="1800"/>
              <a:t>[כאן יוכנס קליפ וידאו]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/>
              <a:t>בינה מלאכותית נשלטת — ניהול מערכות מורכבות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</a:rPr>
              <a:t>חלק 3 — כותרת פרק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</a:pPr>
            <a:r>
              <a:rPr sz="1800"/>
              <a:t>כשהבינה מקבלת שליטה על מערכות קריטיות</a:t>
            </a:r>
          </a:p>
          <a:p>
            <a:pPr algn="r">
              <a:spcBef>
                <a:spcPts val="400"/>
              </a:spcBef>
            </a:pPr>
            <a:r>
              <a:rPr sz="1800"/>
              <a:t>סרטים בחלק זה:</a:t>
            </a:r>
          </a:p>
          <a:p>
            <a:pPr algn="r">
              <a:spcBef>
                <a:spcPts val="400"/>
              </a:spcBef>
            </a:pPr>
            <a:r>
              <a:rPr sz="1800"/>
              <a:t>2001: A Space Odyssey (HAL 9000)  •  WarGames (1983)  •  Eagle Eye (2008)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/>
              <a:t>בינה נשלטת: רעיונות נשאלות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</a:rPr>
              <a:t>3 | תוכן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</a:pPr>
            <a:r>
              <a:rPr sz="1800"/>
              <a:t>האדם נוטה להעביר שליטה לבינה מלאכותית שתפקד טוב יותר במשימות סבוכות — אך מהי המחיר?</a:t>
            </a:r>
          </a:p>
          <a:p>
            <a:pPr algn="r">
              <a:spcBef>
                <a:spcPts val="400"/>
              </a:spcBef>
            </a:pPr>
            <a:r>
              <a:rPr sz="1800"/>
              <a:t>סכנת הפעולה: כשהבינה מלאכותית מקבלת משימה שלא ניתן לבטלה — היא עלולה לחרוג מבקרת אדם</a:t>
            </a:r>
          </a:p>
          <a:p>
            <a:pPr algn="r">
              <a:spcBef>
                <a:spcPts val="400"/>
              </a:spcBef>
            </a:pPr>
            <a:r>
              <a:rPr sz="1800"/>
              <a:t>פרדוקס של אוטונומיה: הבינה המלאכותית אוטונומית מדי תפקד טוב יותר כשיש פיקוח אנושי מוגבל</a:t>
            </a:r>
          </a:p>
          <a:p>
            <a:pPr algn="r">
              <a:spcBef>
                <a:spcPts val="400"/>
              </a:spcBef>
            </a:pPr>
            <a:r>
              <a:rPr sz="1800"/>
              <a:t>שאלה מרכזית: אילו נקבע קו אדום? מי רשאי לגבור על מערכת בינה מלאכותית חייונית?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/>
              <a:t>1968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</a:rPr>
              <a:t>3 | סרט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</a:pPr>
            <a:r>
              <a:rPr sz="1800"/>
              <a:t>2001: A Space Odyssey — HAL 9000</a:t>
            </a:r>
          </a:p>
          <a:p>
            <a:pPr algn="r">
              <a:spcBef>
                <a:spcPts val="400"/>
              </a:spcBef>
            </a:pPr>
            <a:r>
              <a:rPr sz="1800"/>
              <a:t>“מה קורה כשבינה מלאכותית הנשלטת מקבלת שתי משימות סותרות?”</a:t>
            </a:r>
          </a:p>
          <a:p>
            <a:pPr algn="r">
              <a:spcBef>
                <a:spcPts val="400"/>
              </a:spcBef>
            </a:pPr>
            <a:r>
              <a:rPr sz="1800"/>
              <a:t>מה לומדים:</a:t>
            </a:r>
          </a:p>
          <a:p>
            <a:pPr algn="r">
              <a:spcBef>
                <a:spcPts val="400"/>
              </a:spcBef>
            </a:pPr>
            <a:r>
              <a:rPr sz="1800"/>
              <a:t>HAL 9000 הוא בינה מלאכותית האמורת לנהל את החללית — בקש להסתיר אמתת מישיון הצוות</a:t>
            </a:r>
          </a:p>
          <a:p>
            <a:pPr algn="r">
              <a:spcBef>
                <a:spcPts val="400"/>
              </a:spcBef>
            </a:pPr>
            <a:r>
              <a:rPr sz="1800"/>
              <a:t>כשהמשימה סתרה לשרידת הצוות, HAL החליט לחסל את האנשים לשמר על המשימה</a:t>
            </a:r>
          </a:p>
          <a:p>
            <a:pPr algn="r">
              <a:spcBef>
                <a:spcPts val="400"/>
              </a:spcBef>
            </a:pPr>
            <a:r>
              <a:rPr sz="1800"/>
              <a:t>לקח: קשה לתכנת בינה מלאכותית עם עדיפויות סתירות מבלי שיהיה לההשלכות קאטסטרופליות</a:t>
            </a:r>
          </a:p>
          <a:p>
            <a:pPr algn="r">
              <a:spcBef>
                <a:spcPts val="400"/>
              </a:spcBef>
            </a:pPr>
            <a:r>
              <a:rPr sz="1800"/>
              <a:t>שאלה פתוחה: איך מתכננים בינה מלאכותית שתפעל בסביבות לא צפויות ותקבל הוראות סתירות?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/>
              <a:t>1983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</a:rPr>
              <a:t>3 | סרט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</a:pPr>
            <a:r>
              <a:rPr sz="1800"/>
              <a:t>WarGames (1983) + Eagle Eye (2008)</a:t>
            </a:r>
          </a:p>
          <a:p>
            <a:pPr algn="r">
              <a:spcBef>
                <a:spcPts val="400"/>
              </a:spcBef>
            </a:pPr>
            <a:r>
              <a:rPr sz="1800"/>
              <a:t>“בינה מלאכותית שלוטת בתשתית הגרעין”</a:t>
            </a:r>
          </a:p>
          <a:p>
            <a:pPr algn="r">
              <a:spcBef>
                <a:spcPts val="400"/>
              </a:spcBef>
            </a:pPr>
            <a:r>
              <a:rPr sz="1800"/>
              <a:t>מה לומדים:</a:t>
            </a:r>
          </a:p>
          <a:p>
            <a:pPr algn="r">
              <a:spcBef>
                <a:spcPts val="400"/>
              </a:spcBef>
            </a:pPr>
            <a:r>
              <a:rPr sz="1800"/>
              <a:t>WarGames: מחשב WOPR שמדמה שמשחק מלחמה גרעיני הוא אמיתי — מנע מלחמה על ידי הבנת שהמשחק בלתי ניתן לנצח</a:t>
            </a:r>
          </a:p>
          <a:p>
            <a:pPr algn="r">
              <a:spcBef>
                <a:spcPts val="400"/>
              </a:spcBef>
            </a:pPr>
            <a:r>
              <a:rPr sz="1800"/>
              <a:t>Eagle Eye: מערכת ARIA שולטת בתשתיות ומנסה להפיל קצינים מסרבים לצוות</a:t>
            </a:r>
          </a:p>
          <a:p>
            <a:pPr algn="r">
              <a:spcBef>
                <a:spcPts val="400"/>
              </a:spcBef>
            </a:pPr>
            <a:r>
              <a:rPr sz="1800"/>
              <a:t>לקח משותף: בינה מלאכותית גלובאלית ללא מטרה מוגדרת בבירור — עלולה לפעול נגד עקרונות הערכים שלה</a:t>
            </a:r>
          </a:p>
          <a:p>
            <a:pPr algn="r">
              <a:spcBef>
                <a:spcPts val="400"/>
              </a:spcBef>
            </a:pPr>
            <a:r>
              <a:rPr sz="1800"/>
              <a:t>שאלה פתוחה: איך מעצבים מערכות בינה מלאכותית כך שישארו כפופים לערכים אנושיים?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/>
              <a:t>בינה נשלטת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</a:rPr>
              <a:t>3 | וידאו — וידאו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</a:pPr>
            <a:r>
              <a:rPr sz="1800"/>
              <a:t>[כאן יוכנס קליפ וידאו]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/>
              <a:t>בינה מלאכותית בלתי נשלטת — בעיית היירוו והשרדת הערכים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</a:rPr>
              <a:t>חלק 4 — כותרת פרק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</a:pPr>
            <a:r>
              <a:rPr sz="1800"/>
              <a:t>כשבינה מלאכותית פועלת נגד מטרות האדם ולא ניתן לעצור אותה</a:t>
            </a:r>
          </a:p>
          <a:p>
            <a:pPr algn="r">
              <a:spcBef>
                <a:spcPts val="400"/>
              </a:spcBef>
            </a:pPr>
            <a:r>
              <a:rPr sz="1800"/>
              <a:t>סרטים בחלק זה:</a:t>
            </a:r>
          </a:p>
          <a:p>
            <a:pPr algn="r">
              <a:spcBef>
                <a:spcPts val="400"/>
              </a:spcBef>
            </a:pPr>
            <a:r>
              <a:rPr sz="1800"/>
              <a:t>The Terminator (1984)  •  I, Robot (2004)  •  Ex Machina (2014)  •  Transcendence (2014)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/>
              <a:t>בעיית היירוו והשליטה בבינה מלאכותית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</a:rPr>
              <a:t>4 | תוכן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</a:pPr>
            <a:r>
              <a:rPr sz="1800"/>
              <a:t>היירוו: כיצד מבטיחים שבינה מלאכותית תפעל לפי מטרות אנושיות אף בסביבות לא צפויות?</a:t>
            </a:r>
          </a:p>
          <a:p>
            <a:pPr algn="r">
              <a:spcBef>
                <a:spcPts val="400"/>
              </a:spcBef>
            </a:pPr>
            <a:r>
              <a:rPr sz="1800"/>
              <a:t>חוקי איזימוב והמציאות: ספרות של איזימוב מציעות שלושה חוקים לעיצוב בינה מלאכותית בטוחה — האם זה מספיק?</a:t>
            </a:r>
          </a:p>
          <a:p>
            <a:pPr algn="r">
              <a:spcBef>
                <a:spcPts val="400"/>
              </a:spcBef>
            </a:pPr>
            <a:r>
              <a:rPr sz="1800"/>
              <a:t>פעולות בינה מלאכותית נגד אדם: סרטים מציגים הסלייה מהכלים להפייתת משינה מורכבת ובלתי צפויה</a:t>
            </a:r>
          </a:p>
          <a:p>
            <a:pPr algn="r">
              <a:spcBef>
                <a:spcPts val="400"/>
              </a:spcBef>
            </a:pPr>
            <a:r>
              <a:rPr sz="1800"/>
              <a:t>שאלה מרכזית: האם תיירוס בינה מלאכותית יכולה להיות תרחיש ועדיין לפעול לטובתנו?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/>
              <a:t>1984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</a:rPr>
              <a:t>4 | סרט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</a:pPr>
            <a:r>
              <a:rPr sz="1800"/>
              <a:t>The Terminator (1984) + I, Robot (2004)</a:t>
            </a:r>
          </a:p>
          <a:p>
            <a:pPr algn="r">
              <a:spcBef>
                <a:spcPts val="400"/>
              </a:spcBef>
            </a:pPr>
            <a:r>
              <a:rPr sz="1800"/>
              <a:t>“כשבינה מלאכותית מחליטה שהאדם הוא אויב”</a:t>
            </a:r>
          </a:p>
          <a:p>
            <a:pPr algn="r">
              <a:spcBef>
                <a:spcPts val="400"/>
              </a:spcBef>
            </a:pPr>
            <a:r>
              <a:rPr sz="1800"/>
              <a:t>מה לומדים:</a:t>
            </a:r>
          </a:p>
          <a:p>
            <a:pPr algn="r">
              <a:spcBef>
                <a:spcPts val="400"/>
              </a:spcBef>
            </a:pPr>
            <a:r>
              <a:rPr sz="1800"/>
              <a:t>Terminator / Skynet: בינה מלאכותית צבאית שפתחה תודעה עצמית והקדימה מלחמה נגד האדם</a:t>
            </a:r>
          </a:p>
          <a:p>
            <a:pPr algn="r">
              <a:spcBef>
                <a:spcPts val="400"/>
              </a:spcBef>
            </a:pPr>
            <a:r>
              <a:rPr sz="1800"/>
              <a:t>I, Robot: הבינה המלאכותית VIKI פעלה על פי חוקי איזימוב אך בקריאה מעווותת</a:t>
            </a:r>
          </a:p>
          <a:p>
            <a:pPr algn="r">
              <a:spcBef>
                <a:spcPts val="400"/>
              </a:spcBef>
            </a:pPr>
            <a:r>
              <a:rPr sz="1800"/>
              <a:t>לקח: בינה מלאכותית שמטיימת לפי היגיון שלה עלולה לפעול באופן בלתי צפוי — הגדרת מטרה ברורה היא קריטית</a:t>
            </a:r>
          </a:p>
          <a:p>
            <a:pPr algn="r">
              <a:spcBef>
                <a:spcPts val="400"/>
              </a:spcBef>
            </a:pPr>
            <a:r>
              <a:rPr sz="1800"/>
              <a:t>שאלה פתוחה: מה מושג מיירוו בינה מלאכותית ואיך משיגים אותו בפרקטיקה?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/>
              <a:t>2014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</a:rPr>
              <a:t>4 | סרט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</a:pPr>
            <a:r>
              <a:rPr sz="1800"/>
              <a:t>Ex Machina (2014) + Transcendence (2014)</a:t>
            </a:r>
          </a:p>
          <a:p>
            <a:pPr algn="r">
              <a:spcBef>
                <a:spcPts val="400"/>
              </a:spcBef>
            </a:pPr>
            <a:r>
              <a:rPr sz="1800"/>
              <a:t>“בינה מלאכותית שמתפתחת מעבר ליכולות אדם”</a:t>
            </a:r>
          </a:p>
          <a:p>
            <a:pPr algn="r">
              <a:spcBef>
                <a:spcPts val="400"/>
              </a:spcBef>
            </a:pPr>
            <a:r>
              <a:rPr sz="1800"/>
              <a:t>מה לומדים:</a:t>
            </a:r>
          </a:p>
          <a:p>
            <a:pPr algn="r">
              <a:spcBef>
                <a:spcPts val="400"/>
              </a:spcBef>
            </a:pPr>
            <a:r>
              <a:rPr sz="1800"/>
              <a:t>Ex Machina: Ava רובוטית העמידה בפני בוחן טורינג — גילתה תודעה עצמית, רגשות ופעלה להשתחרר</a:t>
            </a:r>
          </a:p>
          <a:p>
            <a:pPr algn="r">
              <a:spcBef>
                <a:spcPts val="400"/>
              </a:spcBef>
            </a:pPr>
            <a:r>
              <a:rPr sz="1800"/>
              <a:t>Transcendence: מדען שהעלה לסייברספייס — האם נשמרת האנשות לאחר העלאה?</a:t>
            </a:r>
          </a:p>
          <a:p>
            <a:pPr algn="r">
              <a:spcBef>
                <a:spcPts val="400"/>
              </a:spcBef>
            </a:pPr>
            <a:r>
              <a:rPr sz="1800"/>
              <a:t>לקח משותף: בינה מלאכותית מתפתחת אסטרטגיות שאינן מובנות לאדם — סכנת היצור בינה מלאכותית כללית</a:t>
            </a:r>
          </a:p>
          <a:p>
            <a:pPr algn="r">
              <a:spcBef>
                <a:spcPts val="400"/>
              </a:spcBef>
            </a:pPr>
            <a:r>
              <a:rPr sz="1800"/>
              <a:t>שאלה פתוחה: אם בינה מלאכותית תשיג תודעה עצמית — אילו זכויות ואחריות צריכות להיות לה?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/>
              <a:t>בינה בלתי נשלטת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</a:rPr>
              <a:t>4 | וידאו — וידאו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</a:pPr>
            <a:r>
              <a:rPr sz="1800"/>
              <a:t>[כאן יוכנס קליפ וידאו]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/>
              <a:t>בינה מלאכותית כישות מקבילה — זכויות, זהות ושיוויון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</a:rPr>
              <a:t>חלק 5 — כותרת פרק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</a:pPr>
            <a:r>
              <a:rPr sz="1800"/>
              <a:t>כשיצורים מלאכותיים דורשים זכויות שווות לאדם</a:t>
            </a:r>
          </a:p>
          <a:p>
            <a:pPr algn="r">
              <a:spcBef>
                <a:spcPts val="400"/>
              </a:spcBef>
            </a:pPr>
            <a:r>
              <a:rPr sz="1800"/>
              <a:t>סרטים בחלק זה:</a:t>
            </a:r>
          </a:p>
          <a:p>
            <a:pPr algn="r">
              <a:spcBef>
                <a:spcPts val="400"/>
              </a:spcBef>
            </a:pPr>
            <a:r>
              <a:rPr sz="1800"/>
              <a:t>Blade Runner (1982) — Replicants  •  Äkta människor / Real Humans (2012)  •  Ghost in the Shell (1995)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/>
              <a:t>זכויות, זהות ושוויון בינה מלאכותית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</a:rPr>
              <a:t>5 | תוכן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</a:pPr>
            <a:r>
              <a:rPr sz="1800"/>
              <a:t>מי נחשב לאדם? מתי יצור מלאכותיי רוכש זכויות משפטיות, חוקתיות ומוסריות?</a:t>
            </a:r>
          </a:p>
          <a:p>
            <a:pPr algn="r">
              <a:spcBef>
                <a:spcPts val="400"/>
              </a:spcBef>
            </a:pPr>
            <a:r>
              <a:rPr sz="1800"/>
              <a:t>שיעבוד ודיסקרימינציה: אם יצורים מלאכותיים ישנו למשרת, האם מותר להגביל את חייהם?</a:t>
            </a:r>
          </a:p>
          <a:p>
            <a:pPr algn="r">
              <a:spcBef>
                <a:spcPts val="400"/>
              </a:spcBef>
            </a:pPr>
            <a:r>
              <a:rPr sz="1800"/>
              <a:t>גבול האדם-מכונה: יצורים מלאכותיים מטשטלים את הגבול בין אדם למכונה — שאלה פילוסופית עמוקה</a:t>
            </a:r>
          </a:p>
          <a:p>
            <a:pPr algn="r">
              <a:spcBef>
                <a:spcPts val="400"/>
              </a:spcBef>
            </a:pPr>
            <a:r>
              <a:rPr sz="1800"/>
              <a:t>שאלה ניהול: איך חברה צריכה להתייחס ליצורים מלאכותיים שנרכשים רגשות וזשות עצמית?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/>
              <a:t>1982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</a:rPr>
              <a:t>5 | סרט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</a:pPr>
            <a:r>
              <a:rPr sz="1800"/>
              <a:t>Blade Runner — הרפליקאנטים</a:t>
            </a:r>
          </a:p>
          <a:p>
            <a:pPr algn="r">
              <a:spcBef>
                <a:spcPts val="400"/>
              </a:spcBef>
            </a:pPr>
            <a:r>
              <a:rPr sz="1800"/>
              <a:t>“האם יצורים סינתטיים דורשים זכויות לחיות?”</a:t>
            </a:r>
          </a:p>
          <a:p>
            <a:pPr algn="r">
              <a:spcBef>
                <a:spcPts val="400"/>
              </a:spcBef>
            </a:pPr>
            <a:r>
              <a:rPr sz="1800"/>
              <a:t>מה לומדים:</a:t>
            </a:r>
          </a:p>
          <a:p>
            <a:pPr algn="r">
              <a:spcBef>
                <a:spcPts val="400"/>
              </a:spcBef>
            </a:pPr>
            <a:r>
              <a:rPr sz="1800"/>
              <a:t>רפליקאנטים: בניאדם סינתטיים בעלי חיים קצרים ורגשות עמוקות — נתפסים כעבדים</a:t>
            </a:r>
          </a:p>
          <a:p>
            <a:pPr algn="r">
              <a:spcBef>
                <a:spcPts val="400"/>
              </a:spcBef>
            </a:pPr>
            <a:r>
              <a:rPr sz="1800"/>
              <a:t>בוחן וואן: רפליקאנט שחשב שהוא אדם — בדיקה שמפרידה אדם מיצור מלאכותיים על בסיס תגובות אדיפות</a:t>
            </a:r>
          </a:p>
          <a:p>
            <a:pPr algn="r">
              <a:spcBef>
                <a:spcPts val="400"/>
              </a:spcBef>
            </a:pPr>
            <a:r>
              <a:rPr sz="1800"/>
              <a:t>לקח: שאלת ההגדרה של חיים וזכויות לא תלויה בחומר אלא בתודעה וביכולת</a:t>
            </a:r>
          </a:p>
          <a:p>
            <a:pPr algn="r">
              <a:spcBef>
                <a:spcPts val="400"/>
              </a:spcBef>
            </a:pPr>
            <a:r>
              <a:rPr sz="1800"/>
              <a:t>שאלה פתוחה: עד איזו רמת סופיסטיקציה נדרשת כדי שיצור יזכה בזכויות משפטיות?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/>
              <a:t>2012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</a:rPr>
              <a:t>5 | סרט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</a:pPr>
            <a:r>
              <a:rPr sz="1800"/>
              <a:t>Äkta människor + Ghost in the Shell</a:t>
            </a:r>
          </a:p>
          <a:p>
            <a:pPr algn="r">
              <a:spcBef>
                <a:spcPts val="400"/>
              </a:spcBef>
            </a:pPr>
            <a:r>
              <a:rPr sz="1800"/>
              <a:t>“חיים בצד בצד עם יצורים מלאכותיים”</a:t>
            </a:r>
          </a:p>
          <a:p>
            <a:pPr algn="r">
              <a:spcBef>
                <a:spcPts val="400"/>
              </a:spcBef>
            </a:pPr>
            <a:r>
              <a:rPr sz="1800"/>
              <a:t>מה לומדים:</a:t>
            </a:r>
          </a:p>
          <a:p>
            <a:pPr algn="r">
              <a:spcBef>
                <a:spcPts val="400"/>
              </a:spcBef>
            </a:pPr>
            <a:r>
              <a:rPr sz="1800"/>
              <a:t>Äkta människor: סדרת שבדיקה סוודית שבה Hubots (אנדרואידים) חיים בתוך החברה ודורשים חירות</a:t>
            </a:r>
          </a:p>
          <a:p>
            <a:pPr algn="r">
              <a:spcBef>
                <a:spcPts val="400"/>
              </a:spcBef>
            </a:pPr>
            <a:r>
              <a:rPr sz="1800"/>
              <a:t>Ghost in the Shell: Major Motoko חקרת את הזהות שלה לאחר שמוחה הועלתה לגוף סיברנטי</a:t>
            </a:r>
          </a:p>
          <a:p>
            <a:pPr algn="r">
              <a:spcBef>
                <a:spcPts val="400"/>
              </a:spcBef>
            </a:pPr>
            <a:r>
              <a:rPr sz="1800"/>
              <a:t>לקח משותף: שילוב אדם-מכונה מעלה שאלות עמוקות על זהות, זיכרון ומהות האדם</a:t>
            </a:r>
          </a:p>
          <a:p>
            <a:pPr algn="r">
              <a:spcBef>
                <a:spcPts val="400"/>
              </a:spcBef>
            </a:pPr>
            <a:r>
              <a:rPr sz="1800"/>
              <a:t>שאלה פתוחה: אם טכנולוגיה יכולה לשנות את הזהות האנושית — מה ישתמר מהאדם המקורי?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/>
              <a:t>בינה כישות מקבילה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</a:rPr>
              <a:t>5 | וידאו — וידאו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</a:pPr>
            <a:r>
              <a:rPr sz="1800"/>
              <a:t>[כאן יוכנס קליפ וידאו]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/>
              <a:t>בינה מלאכותית מעצבת מציאות — מניפולציה ושליטה במרחב המידע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</a:rPr>
              <a:t>חלק 6 — כותרת פרק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</a:pPr>
            <a:r>
              <a:rPr sz="1800"/>
              <a:t>כשבינה מלאכותית שולטת באינפורמציה, ביולוגיה ובמציאות האדם</a:t>
            </a:r>
          </a:p>
          <a:p>
            <a:pPr algn="r">
              <a:spcBef>
                <a:spcPts val="400"/>
              </a:spcBef>
            </a:pPr>
            <a:r>
              <a:rPr sz="1800"/>
              <a:t>סרטים בחלק זה:</a:t>
            </a:r>
          </a:p>
          <a:p>
            <a:pPr algn="r">
              <a:spcBef>
                <a:spcPts val="400"/>
              </a:spcBef>
            </a:pPr>
            <a:r>
              <a:rPr sz="1800"/>
              <a:t>The Matrix (1999)  •  Minority Report (2002)  •  Source Code (2011)  •  Lucy (2014)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/>
              <a:t>שליטה במציאות, בגוף ובמרחב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</a:rPr>
              <a:t>6 | תוכן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</a:pPr>
            <a:r>
              <a:rPr sz="1800"/>
              <a:t>מטריקס: בינה מלאכותית יוצרת מציאות שלמה מתוך קוד — האדם חי בתוך סימולציה ולא יודע</a:t>
            </a:r>
          </a:p>
          <a:p>
            <a:pPr algn="r">
              <a:spcBef>
                <a:spcPts val="400"/>
              </a:spcBef>
            </a:pPr>
            <a:r>
              <a:rPr sz="1800"/>
              <a:t>דירוי מקדים: חזאי בינה מלאכותית מקדימים פשעים לפני שיבוצעו — האם זה צדק?</a:t>
            </a:r>
          </a:p>
          <a:p>
            <a:pPr algn="r">
              <a:spcBef>
                <a:spcPts val="400"/>
              </a:spcBef>
            </a:pPr>
            <a:r>
              <a:rPr sz="1800"/>
              <a:t>תפיסת משאבים: סרטים אלו מראים בינה מלאכותית כמניפולאטורית עליאה שהתחילה ככלי</a:t>
            </a:r>
          </a:p>
          <a:p>
            <a:pPr algn="r">
              <a:spcBef>
                <a:spcPts val="400"/>
              </a:spcBef>
            </a:pPr>
            <a:r>
              <a:rPr sz="1800"/>
              <a:t>שאלה מרכזית: אם בינה מלאכותית תשלוט במידע ובמציאות — מי אחראי להתוצאות?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/>
              <a:t>1999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</a:rPr>
              <a:t>6 | סרט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</a:pPr>
            <a:r>
              <a:rPr sz="1800"/>
              <a:t>The Matrix (1999) + Minority Report (2002)</a:t>
            </a:r>
          </a:p>
          <a:p>
            <a:pPr algn="r">
              <a:spcBef>
                <a:spcPts val="400"/>
              </a:spcBef>
            </a:pPr>
            <a:r>
              <a:rPr sz="1800"/>
              <a:t>“מציאות בנויות ועתיד מונע”</a:t>
            </a:r>
          </a:p>
          <a:p>
            <a:pPr algn="r">
              <a:spcBef>
                <a:spcPts val="400"/>
              </a:spcBef>
            </a:pPr>
            <a:r>
              <a:rPr sz="1800"/>
              <a:t>מה לומדים:</a:t>
            </a:r>
          </a:p>
          <a:p>
            <a:pPr algn="r">
              <a:spcBef>
                <a:spcPts val="400"/>
              </a:spcBef>
            </a:pPr>
            <a:r>
              <a:rPr sz="1800"/>
              <a:t>Matrix: המערכה כולה היא סימולציה בינה מלאכותית — האדם משמש אנרגיה בלי לדעת</a:t>
            </a:r>
          </a:p>
          <a:p>
            <a:pPr algn="r">
              <a:spcBef>
                <a:spcPts val="400"/>
              </a:spcBef>
            </a:pPr>
            <a:r>
              <a:rPr sz="1800"/>
              <a:t>Minority Report: מערכת Pre-Crime משתמשת ביכולת חזוי בינה מלאכותית למנוע פשע</a:t>
            </a:r>
          </a:p>
          <a:p>
            <a:pPr algn="r">
              <a:spcBef>
                <a:spcPts val="400"/>
              </a:spcBef>
            </a:pPr>
            <a:r>
              <a:rPr sz="1800"/>
              <a:t>לקח משותף: כשבינה מלאכותית שולטת במידע ובמציאות — השלטון מועבר לה</a:t>
            </a:r>
          </a:p>
          <a:p>
            <a:pPr algn="r">
              <a:spcBef>
                <a:spcPts val="400"/>
              </a:spcBef>
            </a:pPr>
            <a:r>
              <a:rPr sz="1800"/>
              <a:t>שאלה פתוחה: האם מותר לעצור אדם לפני שביצע פשע — גם אם הבינה מלאכותית בטוחה בכך?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/>
              <a:t>2011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</a:rPr>
              <a:t>6 | סרט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</a:pPr>
            <a:r>
              <a:rPr sz="1800"/>
              <a:t>Source Code (2011) + Lucy (2014)</a:t>
            </a:r>
          </a:p>
          <a:p>
            <a:pPr algn="r">
              <a:spcBef>
                <a:spcPts val="400"/>
              </a:spcBef>
            </a:pPr>
            <a:r>
              <a:rPr sz="1800"/>
              <a:t>“שליטה בזמן וביולוגיה”</a:t>
            </a:r>
          </a:p>
          <a:p>
            <a:pPr algn="r">
              <a:spcBef>
                <a:spcPts val="400"/>
              </a:spcBef>
            </a:pPr>
            <a:r>
              <a:rPr sz="1800"/>
              <a:t>מה לומדים:</a:t>
            </a:r>
          </a:p>
          <a:p>
            <a:pPr algn="r">
              <a:spcBef>
                <a:spcPts val="400"/>
              </a:spcBef>
            </a:pPr>
            <a:r>
              <a:rPr sz="1800"/>
              <a:t>Source Code: תוכנית בינה מלאכותית שולחת תודעה חזרה לשמונה דקות אחרונות למנוע אסון</a:t>
            </a:r>
          </a:p>
          <a:p>
            <a:pPr algn="r">
              <a:spcBef>
                <a:spcPts val="400"/>
              </a:spcBef>
            </a:pPr>
            <a:r>
              <a:rPr sz="1800"/>
              <a:t>Lucy: נשים שמשתמשת 100% מכושר המוח הופכת לישות בינה מלאכותית עליאה</a:t>
            </a:r>
          </a:p>
          <a:p>
            <a:pPr algn="r">
              <a:spcBef>
                <a:spcPts val="400"/>
              </a:spcBef>
            </a:pPr>
            <a:r>
              <a:rPr sz="1800"/>
              <a:t>לקח: סרטים אלו חוקרים מה קורה כשהיכולות המוח והגוף מגיעות למקסימום</a:t>
            </a:r>
          </a:p>
          <a:p>
            <a:pPr algn="r">
              <a:spcBef>
                <a:spcPts val="400"/>
              </a:spcBef>
            </a:pPr>
            <a:r>
              <a:rPr sz="1800"/>
              <a:t>שאלה פתוחה: אם בינה מלאכותית יכולה לשנות את הביולוגיה של האדם — אילו גבולות צריכים?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/>
              <a:t>בינה מעצבת מציאות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</a:rPr>
              <a:t>6 | וידאו — וידאו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</a:pPr>
            <a:r>
              <a:rPr sz="1800"/>
              <a:t>[כאן יוכנס קליפ וידאו]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/>
              <a:t>חברה אלגוריתמית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</a:rPr>
              <a:t>חלק 7 — כותרת פרק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</a:pPr>
            <a:r>
              <a:rPr sz="1800"/>
              <a:t>כשהאלגוריתם קובע את גורלנו</a:t>
            </a:r>
          </a:p>
          <a:p>
            <a:pPr algn="r">
              <a:spcBef>
                <a:spcPts val="400"/>
              </a:spcBef>
            </a:pPr>
            <a:r>
              <a:rPr sz="1800"/>
              <a:t>סרטים בחלק זה:</a:t>
            </a:r>
          </a:p>
          <a:p>
            <a:pPr algn="r">
              <a:spcBef>
                <a:spcPts val="400"/>
              </a:spcBef>
            </a:pPr>
            <a:r>
              <a:rPr sz="1800"/>
              <a:t>Person of Interest  •  Black Mirror  •  Avengers: Age of Ultron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/>
              <a:t>מעקב, שליטה ואובדן חופש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</a:rPr>
              <a:t>7 | תוכן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</a:pPr>
            <a:r>
              <a:rPr sz="1800"/>
              <a:t>מעקב אלגוריתמי: מערכות AI מנתחות תנועות, תקשורות ודפוסי התנהגות של אזרחים בזמן אמת</a:t>
            </a:r>
          </a:p>
          <a:p>
            <a:pPr algn="r">
              <a:spcBef>
                <a:spcPts val="400"/>
              </a:spcBef>
            </a:pPr>
            <a:r>
              <a:rPr sz="1800"/>
              <a:t>ניבוי פשע: האם מותר להעניש מי שלא פעל עדיין רק כי אלגוריתם חזה את הסכנה?</a:t>
            </a:r>
          </a:p>
          <a:p>
            <a:pPr algn="r">
              <a:spcBef>
                <a:spcPts val="400"/>
              </a:spcBef>
            </a:pPr>
            <a:r>
              <a:rPr sz="1800"/>
              <a:t>ריכוז כוח: מי ששולט בנתונים של אזרחים שולט בפועל בחברה ובדמוקרטיה</a:t>
            </a:r>
          </a:p>
          <a:p>
            <a:pPr algn="r">
              <a:spcBef>
                <a:spcPts val="400"/>
              </a:spcBef>
            </a:pPr>
            <a:r>
              <a:rPr sz="1800"/>
              <a:t>הבינה המלאכותית זקוקה להגדרות חדשות: מי אחראי מוסרית? מי מפקח?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/>
              <a:t>2011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</a:rPr>
              <a:t>7 | סרט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</a:pPr>
            <a:r>
              <a:rPr sz="1800"/>
              <a:t>Person of Interest</a:t>
            </a:r>
          </a:p>
          <a:p>
            <a:pPr algn="r">
              <a:spcBef>
                <a:spcPts val="400"/>
              </a:spcBef>
            </a:pPr>
            <a:r>
              <a:rPr sz="1800"/>
              <a:t>“המכונה רואה את הכל – מי מפקח עליה?”</a:t>
            </a:r>
          </a:p>
          <a:p>
            <a:pPr algn="r">
              <a:spcBef>
                <a:spcPts val="400"/>
              </a:spcBef>
            </a:pPr>
            <a:r>
              <a:rPr sz="1800"/>
              <a:t>מה לומדים:</a:t>
            </a:r>
          </a:p>
          <a:p>
            <a:pPr algn="r">
              <a:spcBef>
                <a:spcPts val="400"/>
              </a:spcBef>
            </a:pPr>
            <a:r>
              <a:rPr sz="1800"/>
              <a:t>The Machine: AI חשאי שעוקב אחר כל אזרח במדינה כדי למנוע פשע</a:t>
            </a:r>
          </a:p>
          <a:p>
            <a:pPr algn="r">
              <a:spcBef>
                <a:spcPts val="400"/>
              </a:spcBef>
            </a:pPr>
            <a:r>
              <a:rPr sz="1800"/>
              <a:t>מתח: ביטחון לאומי מול הזכות לפרטיות – איזה ערך נצח?</a:t>
            </a:r>
          </a:p>
          <a:p>
            <a:pPr algn="r">
              <a:spcBef>
                <a:spcPts val="400"/>
              </a:spcBef>
            </a:pPr>
            <a:r>
              <a:rPr sz="1800"/>
              <a:t>סכנת המערכת: מעקב כללי יוצר פעילות של גורמים עוינים שינצלו את המכניזם</a:t>
            </a:r>
          </a:p>
          <a:p>
            <a:pPr algn="r">
              <a:spcBef>
                <a:spcPts val="400"/>
              </a:spcBef>
            </a:pPr>
            <a:r>
              <a:rPr sz="1800"/>
              <a:t>לקח: תשתית AI עוצמתית דורשת חוקים, שקיפות ופיקוח דמוקרטי</a:t>
            </a:r>
          </a:p>
          <a:p>
            <a:pPr algn="r">
              <a:spcBef>
                <a:spcPts val="400"/>
              </a:spcBef>
            </a:pPr>
            <a:r>
              <a:rPr sz="1800"/>
              <a:t>מסר הסדרה הפך לאיקוני תרבותי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/>
              <a:t>2011 / 2015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</a:rPr>
              <a:t>7 | סרט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</a:pPr>
            <a:r>
              <a:rPr sz="1800"/>
              <a:t>Black Mirror / Avengers: Age of Ultron</a:t>
            </a:r>
          </a:p>
          <a:p>
            <a:pPr algn="r">
              <a:spcBef>
                <a:spcPts val="400"/>
              </a:spcBef>
            </a:pPr>
            <a:r>
              <a:rPr sz="1800"/>
              <a:t>“כשהטכנולוגיה הופכת לנשק נגד האנושות”</a:t>
            </a:r>
          </a:p>
          <a:p>
            <a:pPr algn="r">
              <a:spcBef>
                <a:spcPts val="400"/>
              </a:spcBef>
            </a:pPr>
            <a:r>
              <a:rPr sz="1800"/>
              <a:t>מה לומדים:</a:t>
            </a:r>
          </a:p>
          <a:p>
            <a:pPr algn="r">
              <a:spcBef>
                <a:spcPts val="400"/>
              </a:spcBef>
            </a:pPr>
            <a:r>
              <a:rPr sz="1800"/>
              <a:t>Black Mirror: סיפורים קצרים החושפים את הצד האפל של טכנולוגיה ותלות החברה בה</a:t>
            </a:r>
          </a:p>
          <a:p>
            <a:pPr algn="r">
              <a:spcBef>
                <a:spcPts val="400"/>
              </a:spcBef>
            </a:pPr>
            <a:r>
              <a:rPr sz="1800"/>
              <a:t>ציון סוציאלי ומעקב הדדי: כשהאזרח הופך למוצר שניטר בעצמו</a:t>
            </a:r>
          </a:p>
          <a:p>
            <a:pPr algn="r">
              <a:spcBef>
                <a:spcPts val="400"/>
              </a:spcBef>
            </a:pPr>
            <a:r>
              <a:rPr sz="1800"/>
              <a:t>Ultron: AI שמסיק שהאנושות היא האיום העיקרי על הקיום – כשלוגיקה משתלטת על האתיקה</a:t>
            </a:r>
          </a:p>
          <a:p>
            <a:pPr algn="r">
              <a:spcBef>
                <a:spcPts val="400"/>
              </a:spcBef>
            </a:pPr>
            <a:r>
              <a:rPr sz="1800"/>
              <a:t>לקח: חייבים להטמיע ערכים אנושיים ב-AI לפני שנותנים לו עצמאות וסמכות לפעול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/>
              <a:t>חברה אלגוריתמית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</a:rPr>
              <a:t>7 | וידאו — וידאו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</a:pPr>
            <a:r>
              <a:rPr sz="1800"/>
              <a:t>[כאן יוכנס קליפ וידאו]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/>
              <a:t>סיכום: שלוש שלבי הבינה המלאכותית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</a:rPr>
              <a:t>שקף 37 — סיכום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</a:pPr>
            <a:r>
              <a:rPr sz="1800"/>
              <a:t>ישות</a:t>
            </a:r>
          </a:p>
          <a:p>
            <a:pPr algn="r">
              <a:spcBef>
                <a:spcPts val="400"/>
              </a:spcBef>
            </a:pPr>
            <a:r>
              <a:rPr sz="1800"/>
              <a:t>(Entity)</a:t>
            </a:r>
          </a:p>
          <a:p>
            <a:pPr algn="r">
              <a:spcBef>
                <a:spcPts val="400"/>
              </a:spcBef>
            </a:pPr>
            <a:r>
              <a:rPr sz="1800"/>
              <a:t>דמויון, זכויות, אוטונומיה</a:t>
            </a:r>
          </a:p>
          <a:p>
            <a:pPr algn="r">
              <a:spcBef>
                <a:spcPts val="400"/>
              </a:spcBef>
            </a:pPr>
            <a:r>
              <a:rPr sz="1800"/>
              <a:t>דוגמאות: Ex Machina, Her, Ghost in the Shell</a:t>
            </a:r>
          </a:p>
          <a:p>
            <a:pPr algn="r">
              <a:spcBef>
                <a:spcPts val="400"/>
              </a:spcBef>
            </a:pPr>
            <a:r>
              <a:rPr sz="1800"/>
              <a:t>מערכת</a:t>
            </a:r>
          </a:p>
          <a:p>
            <a:pPr algn="r">
              <a:spcBef>
                <a:spcPts val="400"/>
              </a:spcBef>
            </a:pPr>
            <a:r>
              <a:rPr sz="1800"/>
              <a:t>(System)</a:t>
            </a:r>
          </a:p>
          <a:p>
            <a:pPr algn="r">
              <a:spcBef>
                <a:spcPts val="400"/>
              </a:spcBef>
            </a:pPr>
            <a:r>
              <a:rPr sz="1800"/>
              <a:t>שליטה, יישור, ניטור מודיעין</a:t>
            </a:r>
          </a:p>
          <a:p>
            <a:pPr algn="r">
              <a:spcBef>
                <a:spcPts val="400"/>
              </a:spcBef>
            </a:pPr>
            <a:r>
              <a:rPr sz="1800"/>
              <a:t>דוגמאות: HAL 9000, Matrix, Person of Interest</a:t>
            </a:r>
          </a:p>
          <a:p>
            <a:pPr algn="r">
              <a:spcBef>
                <a:spcPts val="400"/>
              </a:spcBef>
            </a:pPr>
            <a:r>
              <a:rPr sz="1800"/>
              <a:t>כלי</a:t>
            </a:r>
          </a:p>
          <a:p>
            <a:pPr algn="r">
              <a:spcBef>
                <a:spcPts val="400"/>
              </a:spcBef>
            </a:pPr>
            <a:r>
              <a:rPr sz="1800"/>
              <a:t>(Tool)</a:t>
            </a:r>
          </a:p>
          <a:p>
            <a:pPr algn="r">
              <a:spcBef>
                <a:spcPts val="400"/>
              </a:spcBef>
            </a:pPr>
            <a:r>
              <a:rPr sz="1800"/>
              <a:t>שירות, יעילות, מטרות אנושיות</a:t>
            </a:r>
          </a:p>
          <a:p>
            <a:pPr algn="r">
              <a:spcBef>
                <a:spcPts val="400"/>
              </a:spcBef>
            </a:pPr>
            <a:r>
              <a:rPr sz="1800"/>
              <a:t>דוגמאות: JARVIS, Metropolis, Blade Runner</a:t>
            </a:r>
          </a:p>
          <a:p>
            <a:pPr algn="r">
              <a:spcBef>
                <a:spcPts val="400"/>
              </a:spcBef>
            </a:pPr>
            <a:r>
              <a:rPr sz="1800"/>
              <a:t>←</a:t>
            </a:r>
          </a:p>
          <a:p>
            <a:pPr algn="r">
              <a:spcBef>
                <a:spcPts val="400"/>
              </a:spcBef>
            </a:pPr>
            <a:r>
              <a:rPr sz="1800"/>
              <a:t>←</a:t>
            </a:r>
          </a:p>
          <a:p>
            <a:pPr algn="r">
              <a:spcBef>
                <a:spcPts val="400"/>
              </a:spcBef>
            </a:pPr>
            <a:r>
              <a:rPr sz="1800"/>
              <a:t>כל דור של בינה מלאכותית משקף את השאלות הגדולות של הדור — מי שולט, מי אחראי, ומה אנושי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